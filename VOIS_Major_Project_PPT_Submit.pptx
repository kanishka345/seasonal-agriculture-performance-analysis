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6" r:id="rId12"/>
    <p:sldId id="344" r:id="rId13"/>
    <p:sldId id="345"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21CDFC6A-21F8-2445-4192-60406BC8D98B}"/>
              </a:ext>
            </a:extLst>
          </p:cNvPr>
          <p:cNvSpPr txBox="1"/>
          <p:nvPr/>
        </p:nvSpPr>
        <p:spPr>
          <a:xfrm>
            <a:off x="5645020" y="2976465"/>
            <a:ext cx="914400" cy="914400"/>
          </a:xfrm>
          <a:prstGeom prst="rect">
            <a:avLst/>
          </a:prstGeom>
          <a:noFill/>
        </p:spPr>
        <p:txBody>
          <a:bodyPr wrap="square" rtlCol="0">
            <a:spAutoFit/>
          </a:bodyPr>
          <a:lstStyle/>
          <a:p>
            <a:endParaRPr lang="en-IN"/>
          </a:p>
        </p:txBody>
      </p:sp>
      <p:sp>
        <p:nvSpPr>
          <p:cNvPr id="4" name="TextBox 3">
            <a:extLst>
              <a:ext uri="{FF2B5EF4-FFF2-40B4-BE49-F238E27FC236}">
                <a16:creationId xmlns:a16="http://schemas.microsoft.com/office/drawing/2014/main" id="{B43825A6-201F-16DD-B873-3BFE8B7892C7}"/>
              </a:ext>
            </a:extLst>
          </p:cNvPr>
          <p:cNvSpPr txBox="1"/>
          <p:nvPr/>
        </p:nvSpPr>
        <p:spPr>
          <a:xfrm>
            <a:off x="675957" y="1636210"/>
            <a:ext cx="9153329" cy="4093428"/>
          </a:xfrm>
          <a:prstGeom prst="rect">
            <a:avLst/>
          </a:prstGeom>
          <a:noFill/>
        </p:spPr>
        <p:txBody>
          <a:bodyPr wrap="square" rtlCol="0">
            <a:spAutoFit/>
          </a:bodyPr>
          <a:lstStyle/>
          <a:p>
            <a:r>
              <a:rPr lang="en-IN" sz="2000"/>
              <a:t>This project analyzes 4,000 farm records across 8 Indian states, 8 crops, and 3 cropping seasons (Kharif, Rabi, Zaid) to understand how agricultural performance varies seasonally. The dataset includes environmental conditions (rainfall, temperature, soil), input usage (fertilizer, irrigation, pesticides), and financial outcomes (yield, cost, revenue, profit). After cleaning and feature engineering (profit margin, ROI, water-use efficiency), the analysis applies statistical hypothesis testing (ANOVA, Kruskal-Wallis, Tukey HSD, Chi-square) to confirm whether seasonal differences are statistically significant, followed by correlation analysis, K-Means clustering to segment farm performance archetypes, and a Random Forest model to rank the key drivers of profitability. The goal is to move beyond descriptive charts to evidence-based, statistically validated conclusions that can support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a:t>Agricultural policy makers and state agriculture departments (seasonal planning, subsidy targeting)</a:t>
            </a:r>
          </a:p>
          <a:p>
            <a:pPr lvl="0"/>
            <a:r>
              <a:rPr lang="en-IN" sz="3600"/>
              <a:t>Farmers and farmer cooperatives (crop-season selection, irrigation choice)</a:t>
            </a:r>
          </a:p>
          <a:p>
            <a:pPr lvl="0"/>
            <a:r>
              <a:rPr lang="en-IN" sz="3600"/>
              <a:t>Agri-lending institutions and insurers (season-wise risk assessment)</a:t>
            </a:r>
          </a:p>
          <a:p>
            <a:pPr lvl="0"/>
            <a:r>
              <a:rPr lang="en-IN" sz="3600"/>
              <a:t>Agricultural extension officers (targeted advisory for underperforming farm clusters)</a:t>
            </a:r>
          </a:p>
          <a:p>
            <a:pPr lvl="0"/>
            <a:r>
              <a:rPr lang="en-IN" sz="3600"/>
              <a:t>Researchers and agri-tech companies (data-driven crop planning tools)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IN"/>
              <a:t>Python, Pandas, NumPy, Matplotlib, Seaborn, SciPy, Statsmodels (ANOVA/Tukey HSD), Scikit-learn (K-Means, PCA, Random Forest), Jupyter Notebook.</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9" name="Picture 18">
            <a:extLst>
              <a:ext uri="{FF2B5EF4-FFF2-40B4-BE49-F238E27FC236}">
                <a16:creationId xmlns:a16="http://schemas.microsoft.com/office/drawing/2014/main" id="{8D5ADA33-55D7-062C-8A70-9F95A1641008}"/>
              </a:ext>
            </a:extLst>
          </p:cNvPr>
          <p:cNvPicPr>
            <a:picLocks noChangeAspect="1"/>
          </p:cNvPicPr>
          <p:nvPr/>
        </p:nvPicPr>
        <p:blipFill>
          <a:blip r:embed="rId3"/>
          <a:stretch>
            <a:fillRect/>
          </a:stretch>
        </p:blipFill>
        <p:spPr>
          <a:xfrm>
            <a:off x="647700" y="1275371"/>
            <a:ext cx="5129405" cy="4015086"/>
          </a:xfrm>
          <a:prstGeom prst="rect">
            <a:avLst/>
          </a:prstGeom>
        </p:spPr>
      </p:pic>
      <p:pic>
        <p:nvPicPr>
          <p:cNvPr id="21" name="Picture 20">
            <a:extLst>
              <a:ext uri="{FF2B5EF4-FFF2-40B4-BE49-F238E27FC236}">
                <a16:creationId xmlns:a16="http://schemas.microsoft.com/office/drawing/2014/main" id="{8A18C8C4-3CEA-44CA-CF5C-FFD3B3B74039}"/>
              </a:ext>
            </a:extLst>
          </p:cNvPr>
          <p:cNvPicPr>
            <a:picLocks noChangeAspect="1"/>
          </p:cNvPicPr>
          <p:nvPr/>
        </p:nvPicPr>
        <p:blipFill>
          <a:blip r:embed="rId4"/>
          <a:stretch>
            <a:fillRect/>
          </a:stretch>
        </p:blipFill>
        <p:spPr>
          <a:xfrm>
            <a:off x="6018608" y="816708"/>
            <a:ext cx="5497435" cy="2307492"/>
          </a:xfrm>
          <a:prstGeom prst="rect">
            <a:avLst/>
          </a:prstGeom>
        </p:spPr>
      </p:pic>
      <p:pic>
        <p:nvPicPr>
          <p:cNvPr id="23" name="Picture 22">
            <a:extLst>
              <a:ext uri="{FF2B5EF4-FFF2-40B4-BE49-F238E27FC236}">
                <a16:creationId xmlns:a16="http://schemas.microsoft.com/office/drawing/2014/main" id="{C6FEED51-18BB-5E29-3682-39135D801512}"/>
              </a:ext>
            </a:extLst>
          </p:cNvPr>
          <p:cNvPicPr>
            <a:picLocks noChangeAspect="1"/>
          </p:cNvPicPr>
          <p:nvPr/>
        </p:nvPicPr>
        <p:blipFill>
          <a:blip r:embed="rId5"/>
          <a:stretch>
            <a:fillRect/>
          </a:stretch>
        </p:blipFill>
        <p:spPr>
          <a:xfrm>
            <a:off x="6018606" y="3418522"/>
            <a:ext cx="5525693" cy="204898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96C0AC9-5D7F-98B1-3BCC-791D811ED6C4}"/>
              </a:ext>
            </a:extLst>
          </p:cNvPr>
          <p:cNvPicPr>
            <a:picLocks noChangeAspect="1"/>
          </p:cNvPicPr>
          <p:nvPr/>
        </p:nvPicPr>
        <p:blipFill>
          <a:blip r:embed="rId3"/>
          <a:stretch>
            <a:fillRect/>
          </a:stretch>
        </p:blipFill>
        <p:spPr>
          <a:xfrm>
            <a:off x="426970" y="1275371"/>
            <a:ext cx="5767918" cy="3826936"/>
          </a:xfrm>
          <a:prstGeom prst="rect">
            <a:avLst/>
          </a:prstGeom>
        </p:spPr>
      </p:pic>
      <p:pic>
        <p:nvPicPr>
          <p:cNvPr id="9" name="Picture 8">
            <a:extLst>
              <a:ext uri="{FF2B5EF4-FFF2-40B4-BE49-F238E27FC236}">
                <a16:creationId xmlns:a16="http://schemas.microsoft.com/office/drawing/2014/main" id="{3308F6FA-C1FF-70F3-0E22-91C4CEDB28C6}"/>
              </a:ext>
            </a:extLst>
          </p:cNvPr>
          <p:cNvPicPr>
            <a:picLocks noChangeAspect="1"/>
          </p:cNvPicPr>
          <p:nvPr/>
        </p:nvPicPr>
        <p:blipFill>
          <a:blip r:embed="rId4"/>
          <a:stretch>
            <a:fillRect/>
          </a:stretch>
        </p:blipFill>
        <p:spPr>
          <a:xfrm>
            <a:off x="6523106" y="1013160"/>
            <a:ext cx="5319824" cy="2469479"/>
          </a:xfrm>
          <a:prstGeom prst="rect">
            <a:avLst/>
          </a:prstGeom>
        </p:spPr>
      </p:pic>
      <p:pic>
        <p:nvPicPr>
          <p:cNvPr id="12" name="Picture 11">
            <a:extLst>
              <a:ext uri="{FF2B5EF4-FFF2-40B4-BE49-F238E27FC236}">
                <a16:creationId xmlns:a16="http://schemas.microsoft.com/office/drawing/2014/main" id="{61086EAD-B385-C132-1E35-F2D41C8F2662}"/>
              </a:ext>
            </a:extLst>
          </p:cNvPr>
          <p:cNvPicPr>
            <a:picLocks noChangeAspect="1"/>
          </p:cNvPicPr>
          <p:nvPr/>
        </p:nvPicPr>
        <p:blipFill>
          <a:blip r:embed="rId5"/>
          <a:stretch>
            <a:fillRect/>
          </a:stretch>
        </p:blipFill>
        <p:spPr>
          <a:xfrm>
            <a:off x="426970" y="5102307"/>
            <a:ext cx="5767918" cy="1002126"/>
          </a:xfrm>
          <a:prstGeom prst="rect">
            <a:avLst/>
          </a:prstGeom>
        </p:spPr>
      </p:pic>
      <p:pic>
        <p:nvPicPr>
          <p:cNvPr id="14" name="Picture 13">
            <a:extLst>
              <a:ext uri="{FF2B5EF4-FFF2-40B4-BE49-F238E27FC236}">
                <a16:creationId xmlns:a16="http://schemas.microsoft.com/office/drawing/2014/main" id="{450303E3-51D3-F3E2-D138-D3D6590C08C8}"/>
              </a:ext>
            </a:extLst>
          </p:cNvPr>
          <p:cNvPicPr>
            <a:picLocks noChangeAspect="1"/>
          </p:cNvPicPr>
          <p:nvPr/>
        </p:nvPicPr>
        <p:blipFill>
          <a:blip r:embed="rId6"/>
          <a:stretch>
            <a:fillRect/>
          </a:stretch>
        </p:blipFill>
        <p:spPr>
          <a:xfrm>
            <a:off x="6523106" y="3474879"/>
            <a:ext cx="5375999" cy="273542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47700" y="-253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CAAA500-478C-E295-B427-B532C4F0FA29}"/>
              </a:ext>
            </a:extLst>
          </p:cNvPr>
          <p:cNvPicPr>
            <a:picLocks noChangeAspect="1"/>
          </p:cNvPicPr>
          <p:nvPr/>
        </p:nvPicPr>
        <p:blipFill>
          <a:blip r:embed="rId3"/>
          <a:stretch>
            <a:fillRect/>
          </a:stretch>
        </p:blipFill>
        <p:spPr>
          <a:xfrm>
            <a:off x="320982" y="759855"/>
            <a:ext cx="6424060" cy="2873382"/>
          </a:xfrm>
          <a:prstGeom prst="rect">
            <a:avLst/>
          </a:prstGeom>
        </p:spPr>
      </p:pic>
      <p:pic>
        <p:nvPicPr>
          <p:cNvPr id="9" name="Picture 8">
            <a:extLst>
              <a:ext uri="{FF2B5EF4-FFF2-40B4-BE49-F238E27FC236}">
                <a16:creationId xmlns:a16="http://schemas.microsoft.com/office/drawing/2014/main" id="{92872285-25B6-7783-81A1-AE97E327FFED}"/>
              </a:ext>
            </a:extLst>
          </p:cNvPr>
          <p:cNvPicPr>
            <a:picLocks noChangeAspect="1"/>
          </p:cNvPicPr>
          <p:nvPr/>
        </p:nvPicPr>
        <p:blipFill>
          <a:blip r:embed="rId4"/>
          <a:stretch>
            <a:fillRect/>
          </a:stretch>
        </p:blipFill>
        <p:spPr>
          <a:xfrm>
            <a:off x="320982" y="3606710"/>
            <a:ext cx="6424060" cy="1126248"/>
          </a:xfrm>
          <a:prstGeom prst="rect">
            <a:avLst/>
          </a:prstGeom>
        </p:spPr>
      </p:pic>
      <p:pic>
        <p:nvPicPr>
          <p:cNvPr id="12" name="Picture 11">
            <a:extLst>
              <a:ext uri="{FF2B5EF4-FFF2-40B4-BE49-F238E27FC236}">
                <a16:creationId xmlns:a16="http://schemas.microsoft.com/office/drawing/2014/main" id="{931E2098-31F4-C7CC-B7F0-66FFB5EFFB70}"/>
              </a:ext>
            </a:extLst>
          </p:cNvPr>
          <p:cNvPicPr>
            <a:picLocks noChangeAspect="1"/>
          </p:cNvPicPr>
          <p:nvPr/>
        </p:nvPicPr>
        <p:blipFill>
          <a:blip r:embed="rId5"/>
          <a:stretch>
            <a:fillRect/>
          </a:stretch>
        </p:blipFill>
        <p:spPr>
          <a:xfrm>
            <a:off x="320982" y="4723972"/>
            <a:ext cx="6424060" cy="1066050"/>
          </a:xfrm>
          <a:prstGeom prst="rect">
            <a:avLst/>
          </a:prstGeom>
        </p:spPr>
      </p:pic>
      <p:pic>
        <p:nvPicPr>
          <p:cNvPr id="14" name="Picture 13">
            <a:extLst>
              <a:ext uri="{FF2B5EF4-FFF2-40B4-BE49-F238E27FC236}">
                <a16:creationId xmlns:a16="http://schemas.microsoft.com/office/drawing/2014/main" id="{5F9A37DE-FB1C-2E3A-9AA6-428A32F20FD8}"/>
              </a:ext>
            </a:extLst>
          </p:cNvPr>
          <p:cNvPicPr>
            <a:picLocks noChangeAspect="1"/>
          </p:cNvPicPr>
          <p:nvPr/>
        </p:nvPicPr>
        <p:blipFill>
          <a:blip r:embed="rId6"/>
          <a:stretch>
            <a:fillRect/>
          </a:stretch>
        </p:blipFill>
        <p:spPr>
          <a:xfrm>
            <a:off x="320982" y="5711175"/>
            <a:ext cx="4234614" cy="998250"/>
          </a:xfrm>
          <a:prstGeom prst="rect">
            <a:avLst/>
          </a:prstGeom>
        </p:spPr>
      </p:pic>
      <p:pic>
        <p:nvPicPr>
          <p:cNvPr id="16" name="Picture 15">
            <a:extLst>
              <a:ext uri="{FF2B5EF4-FFF2-40B4-BE49-F238E27FC236}">
                <a16:creationId xmlns:a16="http://schemas.microsoft.com/office/drawing/2014/main" id="{D1CE7ADA-E7ED-3CE9-F9D2-416A0E4AD006}"/>
              </a:ext>
            </a:extLst>
          </p:cNvPr>
          <p:cNvPicPr>
            <a:picLocks noChangeAspect="1"/>
          </p:cNvPicPr>
          <p:nvPr/>
        </p:nvPicPr>
        <p:blipFill>
          <a:blip r:embed="rId7"/>
          <a:stretch>
            <a:fillRect/>
          </a:stretch>
        </p:blipFill>
        <p:spPr>
          <a:xfrm>
            <a:off x="6925030" y="923731"/>
            <a:ext cx="5143279" cy="1705169"/>
          </a:xfrm>
          <a:prstGeom prst="rect">
            <a:avLst/>
          </a:prstGeom>
        </p:spPr>
      </p:pic>
      <p:pic>
        <p:nvPicPr>
          <p:cNvPr id="18" name="Picture 17">
            <a:extLst>
              <a:ext uri="{FF2B5EF4-FFF2-40B4-BE49-F238E27FC236}">
                <a16:creationId xmlns:a16="http://schemas.microsoft.com/office/drawing/2014/main" id="{F8BEE99A-79C9-A7C2-8A99-44BFC3ED2EC7}"/>
              </a:ext>
            </a:extLst>
          </p:cNvPr>
          <p:cNvPicPr>
            <a:picLocks noChangeAspect="1"/>
          </p:cNvPicPr>
          <p:nvPr/>
        </p:nvPicPr>
        <p:blipFill>
          <a:blip r:embed="rId8"/>
          <a:stretch>
            <a:fillRect/>
          </a:stretch>
        </p:blipFill>
        <p:spPr>
          <a:xfrm>
            <a:off x="6925030" y="2628900"/>
            <a:ext cx="5180991" cy="113654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EFC1583-1F2F-B023-8424-16E586D74A2B}"/>
              </a:ext>
            </a:extLst>
          </p:cNvPr>
          <p:cNvPicPr>
            <a:picLocks noChangeAspect="1"/>
          </p:cNvPicPr>
          <p:nvPr/>
        </p:nvPicPr>
        <p:blipFill>
          <a:blip r:embed="rId3"/>
          <a:stretch>
            <a:fillRect/>
          </a:stretch>
        </p:blipFill>
        <p:spPr>
          <a:xfrm>
            <a:off x="320982" y="1243786"/>
            <a:ext cx="5502072" cy="2008227"/>
          </a:xfrm>
          <a:prstGeom prst="rect">
            <a:avLst/>
          </a:prstGeom>
        </p:spPr>
      </p:pic>
      <p:pic>
        <p:nvPicPr>
          <p:cNvPr id="9" name="Picture 8">
            <a:extLst>
              <a:ext uri="{FF2B5EF4-FFF2-40B4-BE49-F238E27FC236}">
                <a16:creationId xmlns:a16="http://schemas.microsoft.com/office/drawing/2014/main" id="{046B0E5E-FBD9-9B0D-9F66-1FA0A73881A8}"/>
              </a:ext>
            </a:extLst>
          </p:cNvPr>
          <p:cNvPicPr>
            <a:picLocks noChangeAspect="1"/>
          </p:cNvPicPr>
          <p:nvPr/>
        </p:nvPicPr>
        <p:blipFill>
          <a:blip r:embed="rId4"/>
          <a:stretch>
            <a:fillRect/>
          </a:stretch>
        </p:blipFill>
        <p:spPr>
          <a:xfrm>
            <a:off x="5999084" y="893406"/>
            <a:ext cx="5897741" cy="3117451"/>
          </a:xfrm>
          <a:prstGeom prst="rect">
            <a:avLst/>
          </a:prstGeom>
        </p:spPr>
      </p:pic>
      <p:pic>
        <p:nvPicPr>
          <p:cNvPr id="12" name="Picture 11">
            <a:extLst>
              <a:ext uri="{FF2B5EF4-FFF2-40B4-BE49-F238E27FC236}">
                <a16:creationId xmlns:a16="http://schemas.microsoft.com/office/drawing/2014/main" id="{14C4D045-B414-2C80-D907-725DDFF32394}"/>
              </a:ext>
            </a:extLst>
          </p:cNvPr>
          <p:cNvPicPr>
            <a:picLocks noChangeAspect="1"/>
          </p:cNvPicPr>
          <p:nvPr/>
        </p:nvPicPr>
        <p:blipFill>
          <a:blip r:embed="rId5"/>
          <a:stretch>
            <a:fillRect/>
          </a:stretch>
        </p:blipFill>
        <p:spPr>
          <a:xfrm>
            <a:off x="6017474" y="4010857"/>
            <a:ext cx="5897741" cy="2041526"/>
          </a:xfrm>
          <a:prstGeom prst="rect">
            <a:avLst/>
          </a:prstGeom>
        </p:spPr>
      </p:pic>
      <p:pic>
        <p:nvPicPr>
          <p:cNvPr id="14" name="Picture 13">
            <a:extLst>
              <a:ext uri="{FF2B5EF4-FFF2-40B4-BE49-F238E27FC236}">
                <a16:creationId xmlns:a16="http://schemas.microsoft.com/office/drawing/2014/main" id="{6E38D195-B4FB-B413-9E32-25DF9861BDCA}"/>
              </a:ext>
            </a:extLst>
          </p:cNvPr>
          <p:cNvPicPr>
            <a:picLocks noChangeAspect="1"/>
          </p:cNvPicPr>
          <p:nvPr/>
        </p:nvPicPr>
        <p:blipFill>
          <a:blip r:embed="rId6"/>
          <a:stretch>
            <a:fillRect/>
          </a:stretch>
        </p:blipFill>
        <p:spPr>
          <a:xfrm>
            <a:off x="259488" y="3341569"/>
            <a:ext cx="5625060" cy="94514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4775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F3C9F7B-B839-ECFC-7EB2-A488063AF0E4}"/>
              </a:ext>
            </a:extLst>
          </p:cNvPr>
          <p:cNvPicPr>
            <a:picLocks noChangeAspect="1"/>
          </p:cNvPicPr>
          <p:nvPr/>
        </p:nvPicPr>
        <p:blipFill>
          <a:blip r:embed="rId3"/>
          <a:stretch>
            <a:fillRect/>
          </a:stretch>
        </p:blipFill>
        <p:spPr>
          <a:xfrm>
            <a:off x="647700" y="821367"/>
            <a:ext cx="9965094" cy="4173745"/>
          </a:xfrm>
          <a:prstGeom prst="rect">
            <a:avLst/>
          </a:prstGeom>
        </p:spPr>
      </p:pic>
      <p:pic>
        <p:nvPicPr>
          <p:cNvPr id="9" name="Picture 8">
            <a:extLst>
              <a:ext uri="{FF2B5EF4-FFF2-40B4-BE49-F238E27FC236}">
                <a16:creationId xmlns:a16="http://schemas.microsoft.com/office/drawing/2014/main" id="{3E15C95C-2B82-D0F0-C68C-2397CC0CEE73}"/>
              </a:ext>
            </a:extLst>
          </p:cNvPr>
          <p:cNvPicPr>
            <a:picLocks noChangeAspect="1"/>
          </p:cNvPicPr>
          <p:nvPr/>
        </p:nvPicPr>
        <p:blipFill>
          <a:blip r:embed="rId4"/>
          <a:stretch>
            <a:fillRect/>
          </a:stretch>
        </p:blipFill>
        <p:spPr>
          <a:xfrm>
            <a:off x="807164" y="4995112"/>
            <a:ext cx="7491109" cy="172226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81CC72F-24A6-4F86-1712-58712E9F56BB}"/>
              </a:ext>
            </a:extLst>
          </p:cNvPr>
          <p:cNvSpPr txBox="1"/>
          <p:nvPr/>
        </p:nvSpPr>
        <p:spPr>
          <a:xfrm>
            <a:off x="591716" y="1115795"/>
            <a:ext cx="10145486" cy="2585323"/>
          </a:xfrm>
          <a:prstGeom prst="rect">
            <a:avLst/>
          </a:prstGeom>
          <a:noFill/>
        </p:spPr>
        <p:txBody>
          <a:bodyPr wrap="square" rtlCol="0">
            <a:spAutoFit/>
          </a:bodyPr>
          <a:lstStyle/>
          <a:p>
            <a:pPr marL="285750" lvl="0" indent="-285750">
              <a:buFont typeface="Arial" panose="020B0604020202020204" pitchFamily="34" charset="0"/>
              <a:buChar char="•"/>
            </a:pPr>
            <a:r>
              <a:rPr lang="en-IN"/>
              <a:t>Extend to multi-year longitudinal data to study year-over-year seasonal trends, not just a single-cycle snapshot</a:t>
            </a:r>
          </a:p>
          <a:p>
            <a:pPr marL="285750" lvl="0" indent="-285750">
              <a:buFont typeface="Arial" panose="020B0604020202020204" pitchFamily="34" charset="0"/>
              <a:buChar char="•"/>
            </a:pPr>
            <a:r>
              <a:rPr lang="en-IN"/>
              <a:t>Incorporate real-time weather/market-price feeds for predictive (not just descriptive) seasonal planning</a:t>
            </a:r>
          </a:p>
          <a:p>
            <a:pPr marL="285750" lvl="0" indent="-285750">
              <a:buFont typeface="Arial" panose="020B0604020202020204" pitchFamily="34" charset="0"/>
              <a:buChar char="•"/>
            </a:pPr>
            <a:r>
              <a:rPr lang="en-IN"/>
              <a:t>Build a farmer-facing dashboard recommending optimal crop-season-irrigation combinations by region</a:t>
            </a:r>
          </a:p>
          <a:p>
            <a:pPr marL="285750" lvl="0" indent="-285750">
              <a:buFont typeface="Arial" panose="020B0604020202020204" pitchFamily="34" charset="0"/>
              <a:buChar char="•"/>
            </a:pPr>
            <a:r>
              <a:rPr lang="en-IN"/>
              <a:t>Test causal methods (e.g., controlled experiments) to move from correlation to causation on key drivers</a:t>
            </a:r>
          </a:p>
          <a:p>
            <a:pPr marL="285750" indent="-285750">
              <a:buFont typeface="Arial" panose="020B0604020202020204" pitchFamily="34" charset="0"/>
              <a:buChar char="•"/>
            </a:pPr>
            <a:endParaRPr lang="en-IN"/>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a:t>https://github.com/Kanishka345/Seasonal-Agriculture-Performance-Analysis.git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CC2DC00-2E67-3BCA-44D0-D496B023EB86}"/>
              </a:ext>
            </a:extLst>
          </p:cNvPr>
          <p:cNvPicPr>
            <a:picLocks noChangeAspect="1"/>
          </p:cNvPicPr>
          <p:nvPr/>
        </p:nvPicPr>
        <p:blipFill>
          <a:blip r:embed="rId3"/>
          <a:stretch>
            <a:fillRect/>
          </a:stretch>
        </p:blipFill>
        <p:spPr>
          <a:xfrm>
            <a:off x="954129" y="1515640"/>
            <a:ext cx="7277927" cy="51493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2420</TotalTime>
  <Words>493</Words>
  <Application>Microsoft Office PowerPoint</Application>
  <PresentationFormat>Widescreen</PresentationFormat>
  <Paragraphs>37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KANISHKA BHARDWAJ</cp:lastModifiedBy>
  <cp:revision>99</cp:revision>
  <dcterms:created xsi:type="dcterms:W3CDTF">2021-07-11T13:13:15Z</dcterms:created>
  <dcterms:modified xsi:type="dcterms:W3CDTF">2026-09-10T08:13:52Z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